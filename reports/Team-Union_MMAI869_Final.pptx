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0"/>
            <a:ext cx="12161520" cy="4572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ALL-INCLUSIVE PARADOX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Churn at Steve's Luxury Resort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premium guests leave — and what we can do about 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Team-Union · MMAI 869 · Final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of Steve's premium guests don't come back.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03520" cy="4297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9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50.4%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guests churn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6,954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guests · </a:t>
            </a:r>
            <a:pPr algn="ctr" indent="0" marL="0">
              <a:buNone/>
            </a:pPr>
            <a:r>
              <a:rPr lang="en-US" sz="1600" b="1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1,739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guests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120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49.6% retained · 50.4% churned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guests will leave — and why?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31089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churn classifier · target retention campaigns at the at-risk cohort.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· evaluated on held-out Kaggle test set.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warned of imbalance — data is balanced. No resampling needed.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features, 13 with missing values, one near-unique field.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4480560"/>
          </a:xfrm>
          <a:prstGeom prst="rect">
            <a:avLst/>
          </a:prstGeom>
          <a:solidFill>
            <a:srgbClr val="F2EFE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448056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BookingDate · PromoCode · Region · Channel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&amp; Demographics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AllInclusive · Room (Wing/Floor/View) · Package · Age · VIP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Spending  ($)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RoomService · Dining · Retail · Spa · Entertainment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Signals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LoyaltyPoints · SurveyScore · DaysSinceEmail · Referral</a:t>
            </a:r>
            <a:endParaRPr lang="en-US" sz="1400" dirty="0"/>
          </a:p>
        </p:txBody>
      </p:sp>
      <p:pic>
        <p:nvPicPr>
          <p:cNvPr id="9" name="Image 0" descr="/sessions/sharp-intelligent-brown/mnt/Team-Union/reports/figures/07_missing_patte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83080"/>
            <a:ext cx="54864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as a feature.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PromoCode 47% null = no promo (kept as category). For the other 12 columns we add explicit missingness flags.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guests churn 2.5× more often.</a:t>
            </a:r>
            <a:endParaRPr lang="en-US" sz="3200" dirty="0"/>
          </a:p>
        </p:txBody>
      </p:sp>
      <p:pic>
        <p:nvPicPr>
          <p:cNvPr id="5" name="Image 0" descr="/sessions/sharp-intelligent-brown/mnt/Team-Union/reports/figures/02_allinclusive_parad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7665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737360"/>
            <a:ext cx="4114800" cy="4389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63840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 vs 33%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86384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guests churn at 81.9% — Non-AI at 32.8%.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46177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is sold as a one-shot experience. Without micro-purchases (dining, activities), no everyday loyalty habits form.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#2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All-Inclusive in Europe is essentially a churn certainty.</a:t>
            </a:r>
            <a:endParaRPr lang="en-US" sz="3200" dirty="0"/>
          </a:p>
        </p:txBody>
      </p:sp>
      <p:pic>
        <p:nvPicPr>
          <p:cNvPr id="5" name="Image 0" descr="/sessions/sharp-intelligent-brown/mnt/Team-Union/reports/figures/03_ai_x_reg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8580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737360"/>
            <a:ext cx="41148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86384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+ Europe (n=722)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200400"/>
            <a:ext cx="4114800" cy="1280160"/>
          </a:xfrm>
          <a:prstGeom prst="rect">
            <a:avLst/>
          </a:prstGeom>
          <a:solidFill>
            <a:srgbClr val="B25E36"/>
          </a:solidFill>
          <a:ln w="12700">
            <a:solidFill>
              <a:srgbClr val="B25E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291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91.5%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86384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+ AsiaPacific (n=528)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4663440"/>
            <a:ext cx="41148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4754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28-41%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86384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Non-All-Inclusive · all regions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interaction is far more predictive than either feature alone.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· WHAT DOESN'T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Promotions cut churn in half. Surveys tell us nothing.</a:t>
            </a:r>
            <a:endParaRPr lang="en-US" sz="3200" dirty="0"/>
          </a:p>
        </p:txBody>
      </p:sp>
      <p:pic>
        <p:nvPicPr>
          <p:cNvPr id="5" name="Image 0" descr="/sessions/sharp-intelligent-brown/mnt/Team-Union/reports/figures/04_promo_impa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783080"/>
            <a:ext cx="5852160" cy="4023360"/>
          </a:xfrm>
          <a:prstGeom prst="rect">
            <a:avLst/>
          </a:prstGeom>
        </p:spPr>
      </p:pic>
      <p:pic>
        <p:nvPicPr>
          <p:cNvPr id="6" name="Image 1" descr="/sessions/sharp-intelligent-brown/mnt/Team-Union/reports/figures/06_survey_usel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783080"/>
            <a:ext cx="539496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897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retain customers — promos halve churn (67% → 36%).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0" y="5897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SurveyScore is essentially useless — every score sits at ~50%.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new features. 5 of them ended up in the top 10.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221992"/>
            <a:ext cx="201168" cy="201168"/>
          </a:xfrm>
          <a:prstGeom prst="ellipse">
            <a:avLst/>
          </a:prstGeom>
          <a:solidFill>
            <a:srgbClr val="2C7D4F"/>
          </a:solidFill>
          <a:ln w="12700">
            <a:solidFill>
              <a:srgbClr val="2C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94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split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148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/ Floor / View ← 5298 unique → 8/numeric/2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201168" cy="201168"/>
          </a:xfrm>
          <a:prstGeom prst="ellipse">
            <a:avLst/>
          </a:prstGeom>
          <a:solidFill>
            <a:srgbClr val="2C7D4F"/>
          </a:solidFill>
          <a:ln w="12700">
            <a:solidFill>
              <a:srgbClr val="2C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features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651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DayOfWeek, Quarter, IsWeekend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27832"/>
            <a:ext cx="201168" cy="201168"/>
          </a:xfrm>
          <a:prstGeom prst="ellipse">
            <a:avLst/>
          </a:prstGeom>
          <a:solidFill>
            <a:srgbClr val="2C7D4F"/>
          </a:solidFill>
          <a:ln w="12700">
            <a:solidFill>
              <a:srgbClr val="2C7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546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3154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TotalSpend, log-transforms, ratios, categories-used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201168" cy="201168"/>
          </a:xfrm>
          <a:prstGeom prst="ellipse">
            <a:avLst/>
          </a:prstGeom>
          <a:solidFill>
            <a:srgbClr val="2C7D4F"/>
          </a:solidFill>
          <a:ln w="12700">
            <a:solidFill>
              <a:srgbClr val="2C7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033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flags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0" y="3657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explicit binary cols ← captures null patterns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233672"/>
            <a:ext cx="201168" cy="201168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062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160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interactions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41605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AI×Europe, AI×Adventure, HasPromo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736592"/>
            <a:ext cx="201168" cy="201168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091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663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 handling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468880" y="4663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/ LightGBM without OHE</a:t>
            </a:r>
            <a:endParaRPr lang="en-US" sz="1200" dirty="0"/>
          </a:p>
        </p:txBody>
      </p:sp>
      <p:pic>
        <p:nvPicPr>
          <p:cNvPr id="30" name="Image 0" descr="/sessions/sharp-intelligent-brown/mnt/Team-Union/reports/figures/10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691640"/>
            <a:ext cx="5486400" cy="42976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3093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model's top 10 features were engineered.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algorithms, 2 paradigms, one clear winner.</a:t>
            </a:r>
            <a:endParaRPr lang="en-US" sz="3200" dirty="0"/>
          </a:p>
        </p:txBody>
      </p:sp>
      <p:pic>
        <p:nvPicPr>
          <p:cNvPr id="5" name="Image 0" descr="/sessions/sharp-intelligent-brown/mnt/Team-Union/reports/figures/08_model_leader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76656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737360"/>
            <a:ext cx="4206240" cy="4434840"/>
          </a:xfrm>
          <a:prstGeom prst="rect">
            <a:avLst/>
          </a:prstGeom>
          <a:solidFill>
            <a:srgbClr val="F2EFE7"/>
          </a:solidFill>
          <a:ln w="12700">
            <a:solidFill>
              <a:srgbClr val="F2EF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0" y="1737360"/>
            <a:ext cx="73152" cy="443484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CHECKS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18120" y="22402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Non-tree model: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(0.8199)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Tree-based: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(0.8225)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Boosting: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LightGBM · CatBoost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Ensemble: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soft-vote of top 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↔ LB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8120" y="4846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are 5-fold stratified CV F1-macro. We expect LB ≈ CV ± 0.005 given OOF stability (std 0.005–0.008).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Diminishing returns hit fast on a 7k-row dataset.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configs explored: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depth ∈ {4, 5, 6, 7, 8}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learning_rate ∈ {0.03, 0.05, 0.07, 0.10}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l2_leaf_reg ∈ {3, 5, 7}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iterations ∈ {300, 500, 700, 1000}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ready (in src/tune_catboost.py)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486400" cy="4297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Defaults already win.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tuned config: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= 0.8497  (vs baseline 0.8513)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tuning: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 pp · balanced data, 0.5 already optimal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Differences (±0.005–0.008) are within one σ — we're at the noise floor for a 7k-row dataset.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 × CatBoost + 0.3 × LightGBM + 0.2 × XGBoost.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1417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0.8523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F1-macro · weighted ensemble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1691640" cy="1417320"/>
          </a:xfrm>
          <a:prstGeom prst="rect">
            <a:avLst/>
          </a:prstGeom>
          <a:solidFill>
            <a:srgbClr val="F2EFE7"/>
          </a:solidFill>
          <a:ln w="12700">
            <a:solidFill>
              <a:srgbClr val="F2E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54864" cy="141732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+0.19 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CatBoost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1691640" cy="1417320"/>
          </a:xfrm>
          <a:prstGeom prst="rect">
            <a:avLst/>
          </a:prstGeom>
          <a:solidFill>
            <a:srgbClr val="F2EFE7"/>
          </a:solidFill>
          <a:ln w="12700">
            <a:solidFill>
              <a:srgbClr val="F2E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691640"/>
            <a:ext cx="54864" cy="1417320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+3.2 pp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Logistic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pic>
        <p:nvPicPr>
          <p:cNvPr id="16" name="Image 0" descr="/sessions/sharp-intelligent-brown/mnt/Team-Union/reports/figures/09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91840"/>
            <a:ext cx="5029200" cy="29260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863840" y="1691640"/>
            <a:ext cx="3931920" cy="45262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METRICS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2240280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class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  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class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  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 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Symmetric. No class neglected — balanced data behaves predictably.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GETS IT RIGHT · AND WRONG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Confidently right on the cohort. Wrong on the noise.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77840" cy="4526280"/>
          </a:xfrm>
          <a:prstGeom prst="rect">
            <a:avLst/>
          </a:prstGeom>
          <a:solidFill>
            <a:srgbClr val="F2EFE7"/>
          </a:solidFill>
          <a:ln w="12700">
            <a:solidFill>
              <a:srgbClr val="F2E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577840" cy="365760"/>
          </a:xfrm>
          <a:prstGeom prst="rect">
            <a:avLst/>
          </a:prstGeom>
          <a:solidFill>
            <a:srgbClr val="2C7D4F"/>
          </a:solidFill>
          <a:ln w="12700">
            <a:solidFill>
              <a:srgbClr val="2C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CORRECT — high confidence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all 3 examples: 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AllInclusive · Europe · Adventure · No promo · Dining $0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probability: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 166287 →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 552514 →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 931435 →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learned the deadly cohort exactly. The All-Inclusive Europe Adventure segment really is a churn machine.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577840" cy="4526280"/>
          </a:xfrm>
          <a:prstGeom prst="rect">
            <a:avLst/>
          </a:prstGeom>
          <a:solidFill>
            <a:srgbClr val="F2EFE7"/>
          </a:solidFill>
          <a:ln w="12700">
            <a:solidFill>
              <a:srgbClr val="F2EF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91640"/>
            <a:ext cx="55778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7190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WRONG — confidently wrong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350637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the deadly cohort (AI · EU · Adventure)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99.2% churn — actually retained.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303315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safe cohort (Americas · Promo · NotAI)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0.7% churn — actually churned.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748080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safe cohort (AsiaPacific · PromoB · NotAI)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1.0% churn — actually churned.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i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noise. Need life-event data to predict these.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Steve's Luxury Resort · MMAI 869 · Team-Union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lessons learned.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081C33"/>
          </a:solidFill>
          <a:ln w="12700">
            <a:solidFill>
              <a:srgbClr val="081C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9A24E"/>
          </a:solidFill>
          <a:ln w="12700">
            <a:solidFill>
              <a:srgbClr val="C9A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team would go next.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Stacking with a meta-learner — typically +0.2–0.5 pp over blending.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Optuna, 100+ trials per model — we ran ~12 manual configs.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Pseudo-labeling confident test predictions to grow the train set.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External data: macroeconomic conditions in Europe during booking month — the 98.6% Europe number begs for an explanation.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Cluster analysis to formalize guest personas (the brief's optional ask).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 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Counterintuitive insights win presentations.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All-Inclusive paradox is what executives remember.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FE drove interpretation more than accuracy.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found the same splits, but engineered features made our story clear.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Don't tune past the noise floor.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±1σ, you're chasing folds, not lift.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Read the metric carefully.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on balanced data behaves nothing like F1 on imbalanced data.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Simple ensembles win.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soft-vote of 3 boosters gave us our final +0.19 pp.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C9A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Steve's Luxury Resort — Churn Prediction</dc:title>
  <dc:subject>PptxGenJS Presentation</dc:subject>
  <dc:creator>Team-Union</dc:creator>
  <cp:lastModifiedBy>Team-Union</cp:lastModifiedBy>
  <cp:revision>1</cp:revision>
  <dcterms:created xsi:type="dcterms:W3CDTF">2026-05-07T23:49:00Z</dcterms:created>
  <dcterms:modified xsi:type="dcterms:W3CDTF">2026-05-07T23:49:00Z</dcterms:modified>
</cp:coreProperties>
</file>